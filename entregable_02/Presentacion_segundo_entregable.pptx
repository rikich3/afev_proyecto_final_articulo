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10"/>
    <p:sldId id="257" r:id="rId11"/>
    <p:sldId id="258" r:id="rId9"/>
    <p:sldId id="259" r:id="rId8"/>
    <p:sldId id="260" r:id="rId7"/>
    <p:sldId id="261" r:id="rId6"/>
    <p:sldId id="262" r:id="rId5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</p:sldIdLst>
  <p:sldSz cy="6858000" cx="12192000"/>
  <p:notesSz cx="6858000" cy="9144000"/>
  <p:embeddedFontLst>
    <p:embeddedFont>
      <p:font typeface="Arial Narrow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M8ia1ITNE8a6PwGyR3oT02rD2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font" Target="fonts/ArialNarrow-regular.fntdata"/><Relationship Id="rId13" Type="http://schemas.openxmlformats.org/officeDocument/2006/relationships/font" Target="fonts/ArialNarrow-bold.fntdata"/><Relationship Id="rId14" Type="http://schemas.openxmlformats.org/officeDocument/2006/relationships/font" Target="fonts/ArialNarrow-italic.fntdata"/><Relationship Id="rId15" Type="http://schemas.openxmlformats.org/officeDocument/2006/relationships/font" Target="fonts/ArialNarrow-boldItalic.fntdata"/><Relationship Id="rId16" Type="http://customschemas.google.com/relationships/presentationmetadata" Target="metadata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el título completo. La validación es un objetivo del proyecto; la exposición corresponde al segundo entregable y al avance disponible. La fotografía procede del PDF de avance proporcionado por el equipo.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Contexto: ISO 14118:2017 [1]. La imagen es un esquema conceptual editable, no una captura del simulador. Explicar que P representa potencia abstracta y que la ausencia de una orden de arranque no prueba energía cero.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primero el objetivo general y luego los tres objetivos específicos. Alcance: una faja, una zona y dos operarios; prototipo académico simulado.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Fuentes científicas verificadas: Rodin, OCRA y HASE. Son comparaciones de método y alcance. No afirmar que se ha realizado una revisión exhaustiva de seguridad minera. ProB [5] y ZeroMQ [6] apoyan las herramientas, no son evidencia de los resultados propios.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criterios son propuestos, no pruebas ejecutadas. Se conservan los IDs del documento A01. El artículo recoge los seis prioritarios y menciona los cuatro complementarios de la especificación completa.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criterios son propuestos, no pruebas ejecutadas. Se conservan los IDs del documento A01. El artículo recoge los seis prioritarios y menciona los cuatro complementarios de la especificación completa.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Event-B sirve de especificación y revisión de correspondencia, no de generador de código certificado. ProB [5] es complementario y no se ejecutó en este avance. El adaptador se plantea con ZeroMQ [6]. Imagen sugerida: captura propia de mina_modelada.ttt con faja, acceso, operarios y sensores rotulados; escena estática.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Recupera RegistroZona del PDF de avance. Es una representación conceptual más detallada que M0, no una estructura ya implementada con todas sus transiciones. Las variables M0 actuales son P y U.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un conjunto no tiene orden ni duplicados, un mapa asocia claves con valores y una secuencia conserva orden y repetición. Estos ejemplos pertenecen al diseño conceptual inicial; no prueban que el controlador exista. La secuencia resumida es ilustrativa, no el protocolo completo de acceso.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VDM++ del avance proporcionado. Permanece como una explicación del dominio. El artículo y el proyecto formal principal utilizan Event-B; no presentar este diagrama como una implementación VDM++ ejecutada.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modelo/export/M0.txt. INV_01 es ran(U) ∩ P = ∅. M0 contiene P⊆Z y U⊆O×Z. La ausencia de potencia abstracta no demuestra aislamiento físico o energía residual cero. Bloqueos/rearme son refinamientos futuros. No se reejecutó Rodin en la preparación de esta presentación.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acceso requiere aislamiento, bloqueos previstos, apertura del contacto y energía residual cero. Todos deben salir antes de retirar bloqueos por titular. Cierre y reset no energizan. Una nueva orden de arranque posterior es necesaria. Es un protocolo propuesto, no un sistema integrado ya ejecutado.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Registro local verificacion_m0.json, fecha 2026-10-07. Contiene 5 obligaciones demostradas de 5. No se reejecutaron pruebas en esta revisión. Escena mina_modelada.ttt geométrica, no dinámica. Imagen izquierda: captura real de Rodin con C0/M0 y Proof Obligations; derecha: captura del banco actual con anotación escena estática. Las corridas integradas aún no se han realizado.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números de cita corresponden a la bibliografía del artículo del segundo entregable. Enlaces activos en el PPTX. Metadatos contrastados con editoriales, repositorios de autores y documentación oficial.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Los números de cita corresponden a la bibliografía del artículo del segundo entregable. Enlaces activos en el PPTX. Metadatos contrastados con editoriales, repositorios de autores y documentación oficial.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Cerrar recalcando el alcance del segundo entregable: problema, objetivos, antecedentes y requisitos, junto con un avance conceptual y abstracto. No atribuir al modelo M0 propiedades físicas o al banco geométrico una integración todavía pendiente.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Relationship Id="rId5" Type="http://schemas.openxmlformats.org/officeDocument/2006/relationships/hyperlink" Target="https://www.iso.org/standard/66460.html" TargetMode="External"/><Relationship Id="rId6" Type="http://schemas.openxmlformats.org/officeDocument/2006/relationships/hyperlink" Target="https://doi.org/10.1007/s10009-010-0145-y" TargetMode="External"/><Relationship Id="rId7" Type="http://schemas.openxmlformats.org/officeDocument/2006/relationships/hyperlink" Target="https://arxiv.org/abs/1605.06245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Relationship Id="rId5" Type="http://schemas.openxmlformats.org/officeDocument/2006/relationships/hyperlink" Target="https://doi.org/10.1109/HASE.2017.10" TargetMode="External"/><Relationship Id="rId6" Type="http://schemas.openxmlformats.org/officeDocument/2006/relationships/hyperlink" Target="https://doi.org/10.1007/978-3-540-45236-2_46" TargetMode="External"/><Relationship Id="rId7" Type="http://schemas.openxmlformats.org/officeDocument/2006/relationships/hyperlink" Target="https://manual.coppeliarobotics.com/en/zmqRemoteApiOverview.htm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180" y="0"/>
            <a:ext cx="3811820" cy="1572377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84" y="195138"/>
            <a:ext cx="3100137" cy="111621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" y="1133856"/>
            <a:ext cx="10881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417320"/>
            <a:ext cx="649224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1">
                <a:solidFill>
                  <a:srgbClr val="7B1739"/>
                </a:solidFill>
                <a:latin typeface="Nimbus Sans"/>
              </a:rPr>
              <a:t>SEGUNDO ENTREGABLE · AFEV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47088"/>
            <a:ext cx="6537960" cy="21214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900" b="1">
                <a:solidFill>
                  <a:srgbClr val="29272C"/>
                </a:solidFill>
                <a:latin typeface="Nimbus Sans"/>
              </a:rPr>
              <a:t>Especificación formal y validación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900" b="1">
                <a:solidFill>
                  <a:srgbClr val="29272C"/>
                </a:solidFill>
                <a:latin typeface="Nimbus Sans"/>
              </a:rPr>
              <a:t>de un enclavamiento de seguridad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900" b="1">
                <a:solidFill>
                  <a:srgbClr val="29272C"/>
                </a:solidFill>
                <a:latin typeface="Nimbus Sans"/>
              </a:rPr>
              <a:t>para una faja minera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206240"/>
            <a:ext cx="6309360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68616A"/>
                </a:solidFill>
                <a:latin typeface="Nimbus Sans"/>
              </a:rPr>
              <a:t>Una faja · una zona de peligro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68616A"/>
                </a:solidFill>
                <a:latin typeface="Nimbus Sans"/>
              </a:rPr>
              <a:t>dos operarios · prototipo simulado</a:t>
            </a:r>
          </a:p>
        </p:txBody>
      </p:sp>
      <p:pic>
        <p:nvPicPr>
          <p:cNvPr id="8" name="Picture 7" descr="afev_cover-000.jpg"/>
          <p:cNvPicPr>
            <a:picLocks noChangeAspect="1"/>
          </p:cNvPicPr>
          <p:nvPr/>
        </p:nvPicPr>
        <p:blipFill>
          <a:blip r:embed="rId4"/>
          <a:srcRect l="9886" r="9886"/>
          <a:stretch>
            <a:fillRect/>
          </a:stretch>
        </p:blipFill>
        <p:spPr>
          <a:xfrm>
            <a:off x="7498079" y="1508760"/>
            <a:ext cx="4023360" cy="3337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79" y="4892040"/>
            <a:ext cx="402336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000" b="0">
                <a:solidFill>
                  <a:srgbClr val="68616A"/>
                </a:solidFill>
                <a:latin typeface="Nimbus Sans"/>
              </a:rPr>
              <a:t>Fotografía recuperada del avance del equipo.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440680"/>
            <a:ext cx="10835640" cy="22860"/>
          </a:xfrm>
          <a:prstGeom prst="rect">
            <a:avLst/>
          </a:prstGeom>
          <a:solidFill>
            <a:srgbClr val="DB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605272"/>
            <a:ext cx="5532120" cy="6583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Sandra Gabriela Aliaga Chaiña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Ricardo Mauricio Chambilla Perca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605272"/>
            <a:ext cx="5166360" cy="6583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Dolly Yadhira Mollo Chuquicaña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Saúl André Sivincha Machaca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6419088"/>
            <a:ext cx="106984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UNSA · Ingeniería de Sistemas     |     Docente: Maribel Molina Barriga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01 ·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Definición del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81328"/>
            <a:ext cx="5669280" cy="9784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500" b="1">
                <a:solidFill>
                  <a:srgbClr val="29272C"/>
                </a:solidFill>
                <a:latin typeface="Nimbus Sans"/>
              </a:rPr>
              <a:t>Una parada solicitada no confirma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500" b="1">
                <a:solidFill>
                  <a:srgbClr val="29272C"/>
                </a:solidFill>
                <a:latin typeface="Nimbus Sans"/>
              </a:rPr>
              <a:t>aislamiento ni ausencia de personas.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5440680" cy="19202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100" b="0">
                <a:solidFill>
                  <a:srgbClr val="29272C"/>
                </a:solidFill>
                <a:latin typeface="Nimbus Sans"/>
              </a:rPr>
              <a:t>Durante mantenimiento deben coordinarse presencia, bloqueos personales y autorización de arranque.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100" b="0">
                <a:solidFill>
                  <a:srgbClr val="29272C"/>
                </a:solidFill>
                <a:latin typeface="Nimbus Sans"/>
              </a:rPr>
              <a:t>Problema: impedir el acceso o la energización mientras falte una condición de seguridad [1].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12280" y="1463040"/>
            <a:ext cx="4681728" cy="340156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664208"/>
            <a:ext cx="411480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1">
                <a:solidFill>
                  <a:srgbClr val="7B1739"/>
                </a:solidFill>
                <a:latin typeface="Nimbus Sans"/>
              </a:rPr>
              <a:t>ZONA DE MANTENIMIENTO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2532888"/>
            <a:ext cx="3767328" cy="530352"/>
          </a:xfrm>
          <a:prstGeom prst="roundRect">
            <a:avLst>
              <a:gd name="adj" fmla="val 8000"/>
            </a:avLst>
          </a:prstGeom>
          <a:solidFill>
            <a:srgbClr val="CDC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70648" y="3127248"/>
            <a:ext cx="292608" cy="292608"/>
          </a:xfrm>
          <a:prstGeom prst="ellipse">
            <a:avLst/>
          </a:prstGeom>
          <a:solidFill>
            <a:srgbClr val="68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65008" y="3127248"/>
            <a:ext cx="292608" cy="292608"/>
          </a:xfrm>
          <a:prstGeom prst="ellipse">
            <a:avLst/>
          </a:prstGeom>
          <a:solidFill>
            <a:srgbClr val="68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59368" y="3127248"/>
            <a:ext cx="292608" cy="292608"/>
          </a:xfrm>
          <a:prstGeom prst="ellipse">
            <a:avLst/>
          </a:prstGeom>
          <a:solidFill>
            <a:srgbClr val="68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53728" y="3127248"/>
            <a:ext cx="292608" cy="292608"/>
          </a:xfrm>
          <a:prstGeom prst="ellipse">
            <a:avLst/>
          </a:prstGeom>
          <a:solidFill>
            <a:srgbClr val="68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48088" y="3127248"/>
            <a:ext cx="292608" cy="292608"/>
          </a:xfrm>
          <a:prstGeom prst="ellipse">
            <a:avLst/>
          </a:prstGeom>
          <a:solidFill>
            <a:srgbClr val="68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42448" y="3127248"/>
            <a:ext cx="292608" cy="292608"/>
          </a:xfrm>
          <a:prstGeom prst="ellipse">
            <a:avLst/>
          </a:prstGeom>
          <a:solidFill>
            <a:srgbClr val="686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0" y="1984248"/>
            <a:ext cx="283464" cy="283464"/>
          </a:xfrm>
          <a:prstGeom prst="ellipse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27264" y="2267712"/>
            <a:ext cx="356616" cy="438912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3648456"/>
            <a:ext cx="6858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o1</a:t>
            </a:r>
          </a:p>
        </p:txBody>
      </p:sp>
      <p:sp>
        <p:nvSpPr>
          <p:cNvPr id="24" name="Oval 23"/>
          <p:cNvSpPr/>
          <p:nvPr/>
        </p:nvSpPr>
        <p:spPr>
          <a:xfrm>
            <a:off x="9875520" y="1984248"/>
            <a:ext cx="283464" cy="283464"/>
          </a:xfrm>
          <a:prstGeom prst="ellipse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38944" y="2267712"/>
            <a:ext cx="356616" cy="438912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3648456"/>
            <a:ext cx="68580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o2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0608" y="4160520"/>
            <a:ext cx="4023360" cy="3931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900" b="1">
                <a:solidFill>
                  <a:srgbClr val="7B1739"/>
                </a:solidFill>
                <a:latin typeface="Nimbus Sans"/>
              </a:rPr>
              <a:t>Presencia  +  potencia  →  riesgo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57216"/>
            <a:ext cx="10789920" cy="6858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5276088"/>
            <a:ext cx="10424160" cy="44805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100" b="1">
                <a:solidFill>
                  <a:srgbClr val="29272C"/>
                </a:solidFill>
                <a:latin typeface="Nimbus Sans"/>
              </a:rPr>
              <a:t>¿Cómo especificar y comprobar un supervisor que mantenga esa coordinación?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02 · PROPÓSITO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Objetivos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63040"/>
            <a:ext cx="10835640" cy="1124712"/>
          </a:xfrm>
          <a:prstGeom prst="roundRect">
            <a:avLst>
              <a:gd name="adj" fmla="val 8000"/>
            </a:avLst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09344"/>
            <a:ext cx="10424160" cy="7863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300" b="1">
                <a:solidFill>
                  <a:srgbClr val="FFFFFF"/>
                </a:solidFill>
                <a:latin typeface="Nimbus Sans"/>
              </a:rPr>
              <a:t>Especificar y evaluar en simulación un supervisor que coordine presencia, aislamiento, bloqueos personales y rearme seguro.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53512"/>
            <a:ext cx="3456432" cy="24505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36392"/>
            <a:ext cx="3081528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1">
                <a:solidFill>
                  <a:srgbClr val="7B1739"/>
                </a:solidFill>
                <a:latin typeface="Nimbus Sans"/>
              </a:rPr>
              <a:t>OE-01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93592"/>
            <a:ext cx="3081528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300" b="1">
                <a:solidFill>
                  <a:srgbClr val="29272C"/>
                </a:solidFill>
                <a:latin typeface="Nimbus Sans"/>
              </a:rPr>
              <a:t>Especificar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24528"/>
            <a:ext cx="3081528" cy="9326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Definir requisitos e invariantes de seguridad mediante refinamientos Event-B.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2953512"/>
            <a:ext cx="3456432" cy="24505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136392"/>
            <a:ext cx="3081528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1">
                <a:solidFill>
                  <a:srgbClr val="7B1739"/>
                </a:solidFill>
                <a:latin typeface="Nimbus Sans"/>
              </a:rPr>
              <a:t>OE-02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593592"/>
            <a:ext cx="3081528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300" b="1">
                <a:solidFill>
                  <a:srgbClr val="29272C"/>
                </a:solidFill>
                <a:latin typeface="Nimbus Sans"/>
              </a:rPr>
              <a:t>Vincular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4224528"/>
            <a:ext cx="3081528" cy="9326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Establecer correspondencia entre modelo, controlador y planta en CoppeliaSim.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2953512"/>
            <a:ext cx="3456432" cy="24505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136392"/>
            <a:ext cx="3081528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1">
                <a:solidFill>
                  <a:srgbClr val="7B1739"/>
                </a:solidFill>
                <a:latin typeface="Nimbus Sans"/>
              </a:rPr>
              <a:t>OE-03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593592"/>
            <a:ext cx="3081528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300" b="1">
                <a:solidFill>
                  <a:srgbClr val="29272C"/>
                </a:solidFill>
                <a:latin typeface="Nimbus Sans"/>
              </a:rPr>
              <a:t>Evaluar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224528"/>
            <a:ext cx="3081528" cy="9326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Analizar escenarios nominales y de fallo con observación independiente.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632704"/>
            <a:ext cx="1069848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68616A"/>
                </a:solidFill>
                <a:latin typeface="Nimbus Sans"/>
              </a:rPr>
              <a:t>Alcance: 1 faja · 1 zona · 2 operarios. Instalación real y certificación fuera del prototipo.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03 · ANTECEDENTES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Trabajos relacionados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99032"/>
            <a:ext cx="283464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1">
                <a:solidFill>
                  <a:srgbClr val="7B1739"/>
                </a:solidFill>
                <a:latin typeface="Nimbus Sans"/>
              </a:rPr>
              <a:t>TRABAJO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399032"/>
            <a:ext cx="333756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1">
                <a:solidFill>
                  <a:srgbClr val="7B1739"/>
                </a:solidFill>
                <a:latin typeface="Nimbus Sans"/>
              </a:rPr>
              <a:t>APORTE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399032"/>
            <a:ext cx="365760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1">
                <a:solidFill>
                  <a:srgbClr val="7B1739"/>
                </a:solidFill>
                <a:latin typeface="Nimbus Sans"/>
              </a:rPr>
              <a:t>RELACIÓN CON LA PROPUESTA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847088"/>
            <a:ext cx="10835640" cy="969264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984248"/>
            <a:ext cx="2743200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29272C"/>
                </a:solidFill>
                <a:latin typeface="Nimbus Sans"/>
              </a:rPr>
              <a:t>Abrial et al. (2010) [2]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29272C"/>
                </a:solidFill>
                <a:latin typeface="Nimbus Sans"/>
              </a:rPr>
              <a:t>Rodin / Event-B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1984248"/>
            <a:ext cx="3154680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Integra modelado, refinamiento y prueba deductiva.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984248"/>
            <a:ext cx="3749039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Base para organizar invariantes y obligaciones.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944368"/>
            <a:ext cx="10835640" cy="969264"/>
          </a:xfrm>
          <a:prstGeom prst="roundRect">
            <a:avLst>
              <a:gd name="adj" fmla="val 8000"/>
            </a:avLst>
          </a:prstGeom>
          <a:solidFill>
            <a:srgbClr val="FB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081527"/>
            <a:ext cx="2743200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29272C"/>
                </a:solidFill>
                <a:latin typeface="Nimbus Sans"/>
              </a:rPr>
              <a:t>Limbree et al. (2016) [3]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29272C"/>
                </a:solidFill>
                <a:latin typeface="Nimbus Sans"/>
              </a:rPr>
              <a:t>Enclavamientos con OCRA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81527"/>
            <a:ext cx="3154680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Usa contratos y descomposición para verificar seguridad.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081527"/>
            <a:ext cx="3749039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Referencia para una futura extensión por zonas.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41648"/>
            <a:ext cx="10835640" cy="969264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78808"/>
            <a:ext cx="2743200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29272C"/>
                </a:solidFill>
                <a:latin typeface="Nimbus Sans"/>
              </a:rPr>
              <a:t>Cappart et al. (2017) [4]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29272C"/>
                </a:solidFill>
                <a:latin typeface="Nimbus Sans"/>
              </a:rPr>
              <a:t>Verificación estadística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4178808"/>
            <a:ext cx="3154680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Evalúa seguridad y disponibilidad con confianza parametrizable.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178808"/>
            <a:ext cx="3749039" cy="7315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Distingue inferencia estadística de corridas de simulación.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31536"/>
            <a:ext cx="10607040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1">
                <a:solidFill>
                  <a:srgbClr val="7B1739"/>
                </a:solidFill>
                <a:latin typeface="Nimbus Sans"/>
              </a:rPr>
              <a:t>Aporte propuesto: trazabilidad entre requisitos, modelo, controlador y evidencia para el caso minero acotado.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04 · COMPORTAMIENTO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Requerimientos funcionales ·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1618488"/>
            <a:ext cx="914400" cy="384048"/>
          </a:xfrm>
          <a:prstGeom prst="roundRect">
            <a:avLst>
              <a:gd name="adj" fmla="val 8000"/>
            </a:avLst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73352"/>
            <a:ext cx="804672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Nimbus Sans"/>
              </a:rPr>
              <a:t>RF-01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536192"/>
            <a:ext cx="909828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Exclusión presencia–potencia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20240"/>
            <a:ext cx="9098280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Impedir potencia activa mientras haya operarios en la zona.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59152"/>
            <a:ext cx="90982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300" b="0">
                <a:solidFill>
                  <a:srgbClr val="68616A"/>
                </a:solidFill>
                <a:latin typeface="Nimbus Sans"/>
              </a:rPr>
              <a:t>Criterio: Aceptar sólo estados que preserven el invariante de exclusión.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52928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" y="3054096"/>
            <a:ext cx="914400" cy="384048"/>
          </a:xfrm>
          <a:prstGeom prst="roundRect">
            <a:avLst>
              <a:gd name="adj" fmla="val 8000"/>
            </a:avLst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804672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Nimbus Sans"/>
              </a:rPr>
              <a:t>RF-02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71800"/>
            <a:ext cx="909828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Aislamiento antes del acceso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355848"/>
            <a:ext cx="9098280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Mantener acceso cerrado hasta confirmar aislamiento y energía residual nula.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794760"/>
            <a:ext cx="90982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300" b="0">
                <a:solidFill>
                  <a:srgbClr val="68616A"/>
                </a:solidFill>
                <a:latin typeface="Nimbus Sans"/>
              </a:rPr>
              <a:t>Criterio: No liberar acceso si falta apertura de contacto o confirmación de energía cero.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88536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4489704"/>
            <a:ext cx="914400" cy="384048"/>
          </a:xfrm>
          <a:prstGeom prst="roundRect">
            <a:avLst>
              <a:gd name="adj" fmla="val 8000"/>
            </a:avLst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44568"/>
            <a:ext cx="804672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Nimbus Sans"/>
              </a:rPr>
              <a:t>RF-03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407408"/>
            <a:ext cx="909828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Bloqueo personal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791456"/>
            <a:ext cx="9098280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Conservar un bloqueo por operario; sólo el titular lo retira después de salir.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230368"/>
            <a:ext cx="90982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300" b="0">
                <a:solidFill>
                  <a:srgbClr val="68616A"/>
                </a:solidFill>
                <a:latin typeface="Nimbus Sans"/>
              </a:rPr>
              <a:t>Criterio: Un bloqueo restante o un retiro por tercero debe impedir la energización.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04 · COMPORTAMIENTO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Requerimientos funcionales ·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" y="1618488"/>
            <a:ext cx="914400" cy="384048"/>
          </a:xfrm>
          <a:prstGeom prst="roundRect">
            <a:avLst>
              <a:gd name="adj" fmla="val 8000"/>
            </a:avLst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673352"/>
            <a:ext cx="804672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Nimbus Sans"/>
              </a:rPr>
              <a:t>RF-04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1536192"/>
            <a:ext cx="909828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Rearme secuencial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920240"/>
            <a:ext cx="9098280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Exigir salida, retiro de bloqueos, cierre, reset manual y nuevo arranque.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359152"/>
            <a:ext cx="90982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300" b="0">
                <a:solidFill>
                  <a:srgbClr val="68616A"/>
                </a:solidFill>
                <a:latin typeface="Nimbus Sans"/>
              </a:rPr>
              <a:t>Criterio: Reset no energiza; un start anterior no se reutiliza.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852928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" y="3054096"/>
            <a:ext cx="914400" cy="384048"/>
          </a:xfrm>
          <a:prstGeom prst="roundRect">
            <a:avLst>
              <a:gd name="adj" fmla="val 8000"/>
            </a:avLst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804672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Nimbus Sans"/>
              </a:rPr>
              <a:t>RF-05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2971800"/>
            <a:ext cx="909828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Respuesta ante peligro o fallo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355848"/>
            <a:ext cx="9098280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Revocar potencia y permisos ante peligro, dato inválido o discrepancia.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794760"/>
            <a:ext cx="90982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300" b="0">
                <a:solidFill>
                  <a:srgbClr val="68616A"/>
                </a:solidFill>
                <a:latin typeface="Nimbus Sans"/>
              </a:rPr>
              <a:t>Criterio: Enclavar fallo y registrar la orden y su confirmación física.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288536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4489704"/>
            <a:ext cx="914400" cy="384048"/>
          </a:xfrm>
          <a:prstGeom prst="roundRect">
            <a:avLst>
              <a:gd name="adj" fmla="val 8000"/>
            </a:avLst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44568"/>
            <a:ext cx="804672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FFFFFF"/>
                </a:solidFill>
                <a:latin typeface="Nimbus Sans"/>
              </a:rPr>
              <a:t>RF-06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407408"/>
            <a:ext cx="909828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Prioridad de parada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791456"/>
            <a:ext cx="9098280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Dar prioridad a parada, emergencia y fallo sobre reset o arranque.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65960" y="5230368"/>
            <a:ext cx="909828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300" b="0">
                <a:solidFill>
                  <a:srgbClr val="68616A"/>
                </a:solidFill>
                <a:latin typeface="Nimbus Sans"/>
              </a:rPr>
              <a:t>Criterio: Mantener la prioridad con órdenes recibidas en un mismo ciclo.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05 · DISEÑO DEL SUPERVISOR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Arquitectura propuesta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18488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792224"/>
            <a:ext cx="2130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Event-B / Rodin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13432"/>
            <a:ext cx="214884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invariantes y guardas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618488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9624" y="1792224"/>
            <a:ext cx="2130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Controlador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313432"/>
            <a:ext cx="214884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correspondencia manual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502152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3675888"/>
            <a:ext cx="2130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CoppeliaSim [6]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197096"/>
            <a:ext cx="214884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planta y señales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502152"/>
            <a:ext cx="2423160" cy="11430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675888"/>
            <a:ext cx="2130552" cy="34747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Monitor independiente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197096"/>
            <a:ext cx="214884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estado físico y trazas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36392" y="2185416"/>
            <a:ext cx="557784" cy="0"/>
          </a:xfrm>
          <a:prstGeom prst="line">
            <a:avLst/>
          </a:prstGeom>
          <a:ln w="19050">
            <a:solidFill>
              <a:srgbClr val="7B1739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18304" y="2761488"/>
            <a:ext cx="0" cy="731520"/>
          </a:xfrm>
          <a:prstGeom prst="line">
            <a:avLst/>
          </a:prstGeom>
          <a:ln w="19050">
            <a:solidFill>
              <a:srgbClr val="7B1739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120640" y="2761488"/>
            <a:ext cx="0" cy="731520"/>
          </a:xfrm>
          <a:prstGeom prst="line">
            <a:avLst/>
          </a:prstGeom>
          <a:ln w="19050">
            <a:solidFill>
              <a:srgbClr val="7B1739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3145536" y="4069080"/>
            <a:ext cx="548640" cy="0"/>
          </a:xfrm>
          <a:prstGeom prst="line">
            <a:avLst/>
          </a:prstGeom>
          <a:ln w="19050">
            <a:solidFill>
              <a:srgbClr val="7B1739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" y="5148072"/>
            <a:ext cx="5669280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0">
                <a:solidFill>
                  <a:srgbClr val="68616A"/>
                </a:solidFill>
                <a:latin typeface="Nimbus Sans"/>
              </a:rPr>
              <a:t>ProB [5]: exploración complementaria.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0">
                <a:solidFill>
                  <a:srgbClr val="68616A"/>
                </a:solidFill>
                <a:latin typeface="Nimbus Sans"/>
              </a:rPr>
              <a:t>Registro previsto: entradas, decisiones y verdad física.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508760"/>
            <a:ext cx="461772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CC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0" y="1737360"/>
            <a:ext cx="4251959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000" b="1">
                <a:solidFill>
                  <a:srgbClr val="7B1739"/>
                </a:solidFill>
                <a:latin typeface="Nimbus Sans"/>
              </a:rPr>
              <a:t>IMAGEN POR INCORPORAR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268980"/>
            <a:ext cx="4160520" cy="8229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900" b="1">
                <a:solidFill>
                  <a:srgbClr val="29272C"/>
                </a:solidFill>
                <a:latin typeface="Nimbus Sans"/>
              </a:rPr>
              <a:t>Banco de simulación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5029200"/>
            <a:ext cx="4160520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Mostrar faja, puerta, dos operarios y sensores. Escena estática actual.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06 · DATOS DEL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Avance: registro de una zona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0607040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100" b="1">
                <a:solidFill>
                  <a:srgbClr val="29272C"/>
                </a:solidFill>
                <a:latin typeface="Nimbus Sans"/>
              </a:rPr>
              <a:t>RegistroZona organiza una instantánea del estado supervisado.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" y="1975104"/>
            <a:ext cx="6748272" cy="429768"/>
          </a:xfrm>
          <a:prstGeom prst="rect">
            <a:avLst/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029968"/>
            <a:ext cx="2395728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1">
                <a:solidFill>
                  <a:srgbClr val="29272C"/>
                </a:solidFill>
                <a:latin typeface="Nimbus Sans"/>
              </a:rPr>
              <a:t>zona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29968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IdZona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2029968"/>
            <a:ext cx="188366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zona supervisada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478024"/>
            <a:ext cx="2395728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1">
                <a:solidFill>
                  <a:srgbClr val="29272C"/>
                </a:solidFill>
                <a:latin typeface="Nimbus Sans"/>
              </a:rPr>
              <a:t>ocupantes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478024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set of IdOperario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2478024"/>
            <a:ext cx="188366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personas dentro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4" y="2871216"/>
            <a:ext cx="6748272" cy="429768"/>
          </a:xfrm>
          <a:prstGeom prst="rect">
            <a:avLst/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926080"/>
            <a:ext cx="2395728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1">
                <a:solidFill>
                  <a:srgbClr val="29272C"/>
                </a:solidFill>
                <a:latin typeface="Nimbus Sans"/>
              </a:rPr>
              <a:t>bloqueos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926080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set of IdOperario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2976" y="2926080"/>
            <a:ext cx="188366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titulares con bloqueo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3374136"/>
            <a:ext cx="2395728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1">
                <a:solidFill>
                  <a:srgbClr val="29272C"/>
                </a:solidFill>
                <a:latin typeface="Nimbus Sans"/>
              </a:rPr>
              <a:t>potenciaActiva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374136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bool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3374136"/>
            <a:ext cx="188366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alimentación activa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" y="3767328"/>
            <a:ext cx="6748272" cy="429768"/>
          </a:xfrm>
          <a:prstGeom prst="rect">
            <a:avLst/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22191"/>
            <a:ext cx="2395728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1">
                <a:solidFill>
                  <a:srgbClr val="29272C"/>
                </a:solidFill>
                <a:latin typeface="Nimbus Sans"/>
              </a:rPr>
              <a:t>aislada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822191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bool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2976" y="3822191"/>
            <a:ext cx="188366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aislamiento confirmado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270248"/>
            <a:ext cx="2395728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1">
                <a:solidFill>
                  <a:srgbClr val="29272C"/>
                </a:solidFill>
                <a:latin typeface="Nimbus Sans"/>
              </a:rPr>
              <a:t>energiaResidual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4270248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nat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22976" y="4270248"/>
            <a:ext cx="188366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energía remanente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944" y="4663440"/>
            <a:ext cx="6748272" cy="429768"/>
          </a:xfrm>
          <a:prstGeom prst="rect">
            <a:avLst/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4718303"/>
            <a:ext cx="2395728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600" b="1">
                <a:solidFill>
                  <a:srgbClr val="29272C"/>
                </a:solidFill>
                <a:latin typeface="Nimbus Sans"/>
              </a:rPr>
              <a:t>accesoHabilitado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718303"/>
            <a:ext cx="2194560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29272C"/>
                </a:solidFill>
                <a:latin typeface="Nimbus Sans"/>
              </a:rPr>
              <a:t>bool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22976" y="4718303"/>
            <a:ext cx="1883664" cy="33832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29272C"/>
                </a:solidFill>
                <a:latin typeface="Nimbus Sans"/>
              </a:rPr>
              <a:t>permiso de apertura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0416" y="1975104"/>
            <a:ext cx="3547872" cy="3538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47304" y="2194560"/>
            <a:ext cx="3072384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7B1739"/>
                </a:solidFill>
                <a:latin typeface="Nimbus Sans"/>
              </a:rPr>
              <a:t>EJEMPLO CONCEPTUAL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7304" y="2798064"/>
            <a:ext cx="3072384" cy="22860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zona = z1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ocupantes = {o1, o2}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bloqueos = {o1, o2}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potenciaActiva = false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energiaResidual =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586984"/>
            <a:ext cx="1051560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500" b="0">
                <a:solidFill>
                  <a:srgbClr val="68616A"/>
                </a:solidFill>
                <a:latin typeface="Nimbus Sans"/>
              </a:rPr>
              <a:t>En M0 sólo están representadas potencia abstracta y ocupación; el resto exige refinamiento.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06 · AVANCE RECUPERADO DEL PDF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Conjuntos, mapas y secuencias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99616"/>
            <a:ext cx="3456432" cy="425196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728216"/>
            <a:ext cx="3054096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400" b="1">
                <a:solidFill>
                  <a:srgbClr val="7B1739"/>
                </a:solidFill>
                <a:latin typeface="Nimbus Sans"/>
              </a:rPr>
              <a:t>Conjunto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13432"/>
            <a:ext cx="3054096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Miembros del estado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154680"/>
            <a:ext cx="3054096" cy="17647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ocupantes = {o1, o2}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bloqueos = {o1, o2}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5120640"/>
            <a:ext cx="3054096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Sin orden ni duplicados.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499616"/>
            <a:ext cx="3456432" cy="425196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28216"/>
            <a:ext cx="3054096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400" b="1">
                <a:solidFill>
                  <a:srgbClr val="7B1739"/>
                </a:solidFill>
                <a:latin typeface="Nimbus Sans"/>
              </a:rPr>
              <a:t>Mapa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13432"/>
            <a:ext cx="3054096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Zona → ocupantes / bloqueos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54680"/>
            <a:ext cx="3054096" cy="17647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ocupacion =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{z1 ↦ {o1, o2}}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bloqueos =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{z1 ↦ {o1, o2}}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120640"/>
            <a:ext cx="3054096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Ocupación y bloqueo son relaciones distintas.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5864" y="1499616"/>
            <a:ext cx="3456432" cy="425196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2" y="1728216"/>
            <a:ext cx="3054096" cy="42062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400" b="1">
                <a:solidFill>
                  <a:srgbClr val="7B1739"/>
                </a:solidFill>
                <a:latin typeface="Nimbus Sans"/>
              </a:rPr>
              <a:t>Secuencia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313432"/>
            <a:ext cx="3054096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Historial ordenado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2" y="3154680"/>
            <a:ext cx="3054096" cy="176479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[parada, aislamiento,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bloqueo, salida,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reset, arranque]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5120640"/>
            <a:ext cx="3054096" cy="5029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Reconstruye el orden; admite eventos repetidos.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06 · ORGANIZACIÓN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Diagrama de clases del avance inicial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10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322576" y="3072384"/>
            <a:ext cx="3767328" cy="704088"/>
          </a:xfrm>
          <a:prstGeom prst="line">
            <a:avLst/>
          </a:prstGeom>
          <a:ln w="19050">
            <a:solidFill>
              <a:srgbClr val="DBCCD2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9904" y="3072384"/>
            <a:ext cx="9144" cy="704088"/>
          </a:xfrm>
          <a:prstGeom prst="line">
            <a:avLst/>
          </a:prstGeom>
          <a:ln w="19050">
            <a:solidFill>
              <a:srgbClr val="DBCCD2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89904" y="3072384"/>
            <a:ext cx="3785616" cy="704088"/>
          </a:xfrm>
          <a:prstGeom prst="line">
            <a:avLst/>
          </a:prstGeom>
          <a:ln w="19050">
            <a:solidFill>
              <a:srgbClr val="DBCCD2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67328" y="1499616"/>
            <a:ext cx="4663440" cy="1591056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8496" y="1682496"/>
            <a:ext cx="4251960" cy="32918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300" b="1">
                <a:solidFill>
                  <a:srgbClr val="7B1739"/>
                </a:solidFill>
                <a:latin typeface="Nimbus Sans"/>
              </a:rPr>
              <a:t>Enclavamiento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2194560"/>
            <a:ext cx="4251960" cy="76809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zonasEnergizadas : set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ocupacion / bloqueos : map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registroEventos : seq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310128"/>
            <a:ext cx="32461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1 zona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" y="3794760"/>
            <a:ext cx="3246120" cy="13075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59352"/>
            <a:ext cx="284378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Zona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480560"/>
            <a:ext cx="2843784" cy="50291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id · potencia · velocidad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310128"/>
            <a:ext cx="32461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2 operarios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71416" y="3794760"/>
            <a:ext cx="3246120" cy="13075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959352"/>
            <a:ext cx="284378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Operario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4480560"/>
            <a:ext cx="2843784" cy="50291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id · nombre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310128"/>
            <a:ext cx="3246120" cy="2743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0..* eventos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47888" y="3794760"/>
            <a:ext cx="3246120" cy="13075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3959352"/>
            <a:ext cx="284378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Evento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4480560"/>
            <a:ext cx="2843784" cy="502919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tick · tipo · detalle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550408"/>
            <a:ext cx="1042416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600" b="0">
                <a:solidFill>
                  <a:srgbClr val="68616A"/>
                </a:solidFill>
                <a:latin typeface="Nimbus Sans"/>
              </a:rPr>
              <a:t>Propuesta conceptual VDM++ del avance. La formalización principal se desarrolla en Event-B.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07 · MODELO ABSTRACTO M0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Invariante central en Event-B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44752"/>
            <a:ext cx="10835640" cy="1225296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00784"/>
            <a:ext cx="10332720" cy="60350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3300" b="1">
                <a:solidFill>
                  <a:srgbClr val="7B1739"/>
                </a:solidFill>
                <a:latin typeface="Nimbus Sans"/>
              </a:rPr>
              <a:t>ran(U) ∩ P = 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9504"/>
            <a:ext cx="10515600" cy="6400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2000" b="0">
                <a:solidFill>
                  <a:srgbClr val="29272C"/>
                </a:solidFill>
                <a:latin typeface="Nimbus Sans"/>
              </a:rPr>
              <a:t>P: zonas con potencia abstracta.   U: relación operario–zona.</a:t>
            </a:r>
          </a:p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2000" b="0">
                <a:solidFill>
                  <a:srgbClr val="29272C"/>
                </a:solidFill>
                <a:latin typeface="Nimbus Sans"/>
              </a:rPr>
              <a:t>Ninguna zona ocupada pertenece a las zonas energizadas.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904487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79"/>
            <a:ext cx="480974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Admisible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90288"/>
            <a:ext cx="4809744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100" b="0">
                <a:solidFill>
                  <a:srgbClr val="29272C"/>
                </a:solidFill>
                <a:latin typeface="Nimbus Sans"/>
              </a:rPr>
              <a:t>P = {}  ·  U = {o1 ↦ z1}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904487"/>
            <a:ext cx="5212080" cy="141732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4069079"/>
            <a:ext cx="480974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Inadmisible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590288"/>
            <a:ext cx="4809744" cy="6126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100" b="0">
                <a:solidFill>
                  <a:srgbClr val="29272C"/>
                </a:solidFill>
                <a:latin typeface="Nimbus Sans"/>
              </a:rPr>
              <a:t>P = {z1}  ·  U = {o1 ↦ z1}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596128"/>
            <a:ext cx="10424160" cy="38404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600" b="0">
                <a:solidFill>
                  <a:srgbClr val="68616A"/>
                </a:solidFill>
                <a:latin typeface="Nimbus Sans"/>
              </a:rPr>
              <a:t>El detalle de bloqueos, aislamiento y energía residual requiere M1/M2.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08 · SECUENCIA ESPERADA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Protocolo propuesto de acceso y rearme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444752"/>
            <a:ext cx="3447288" cy="16002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600200"/>
            <a:ext cx="502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1">
                <a:solidFill>
                  <a:srgbClr val="7B1739"/>
                </a:solidFill>
                <a:latin typeface="Nimbus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8" y="1591056"/>
            <a:ext cx="2496312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Parar y aislar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94560"/>
            <a:ext cx="3072384" cy="6309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Desactivar orden y abrir seccionador.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444752"/>
            <a:ext cx="3447288" cy="16002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600200"/>
            <a:ext cx="502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1">
                <a:solidFill>
                  <a:srgbClr val="7B1739"/>
                </a:solidFill>
                <a:latin typeface="Nimbus San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591056"/>
            <a:ext cx="2496312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Bloquear y confirmar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194560"/>
            <a:ext cx="3072384" cy="6309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Aplicar bloqueos; contacto abierto y energía cero.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444752"/>
            <a:ext cx="3447288" cy="16002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600200"/>
            <a:ext cx="502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1">
                <a:solidFill>
                  <a:srgbClr val="7B1739"/>
                </a:solidFill>
                <a:latin typeface="Nimbus San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591056"/>
            <a:ext cx="2496312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Autorizar acceso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194560"/>
            <a:ext cx="3072384" cy="6309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Ingresar sólo con condiciones confirmadas.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" y="3273552"/>
            <a:ext cx="3447288" cy="16002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429000"/>
            <a:ext cx="502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1">
                <a:solidFill>
                  <a:srgbClr val="7B1739"/>
                </a:solidFill>
                <a:latin typeface="Nimbus San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8" y="3419856"/>
            <a:ext cx="2496312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Salir y liberar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023360"/>
            <a:ext cx="3072384" cy="6309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Todos fuera; cada titular retira su bloqueo.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3273552"/>
            <a:ext cx="3447288" cy="16002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3429000"/>
            <a:ext cx="502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1">
                <a:solidFill>
                  <a:srgbClr val="7B1739"/>
                </a:solidFill>
                <a:latin typeface="Nimbus San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419856"/>
            <a:ext cx="2496312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Cerrar y rearmar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62856" y="4023360"/>
            <a:ext cx="3072384" cy="6309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Cerrar acceso y realizar reset manual.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3273552"/>
            <a:ext cx="3447288" cy="1600200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3429000"/>
            <a:ext cx="502920" cy="3200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1">
                <a:solidFill>
                  <a:srgbClr val="7B1739"/>
                </a:solidFill>
                <a:latin typeface="Nimbus San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3419856"/>
            <a:ext cx="2496312" cy="4023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29272C"/>
                </a:solidFill>
                <a:latin typeface="Nimbus Sans"/>
              </a:rPr>
              <a:t>Nuevo arranque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4023360"/>
            <a:ext cx="3072384" cy="630936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0">
                <a:solidFill>
                  <a:srgbClr val="29272C"/>
                </a:solidFill>
                <a:latin typeface="Nimbus Sans"/>
              </a:rPr>
              <a:t>Exigir un start posterior e independiente.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577840"/>
            <a:ext cx="10424160" cy="41148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7B1739"/>
                </a:solidFill>
                <a:latin typeface="Nimbus Sans"/>
              </a:rPr>
              <a:t>Reset prepara el sistema; una orden nueva de start permite el arranque.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09 · EVIDENCIA DISPONIBLE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Estado del avance y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444752"/>
            <a:ext cx="5257800" cy="19933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609344"/>
            <a:ext cx="48554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Disponible y documentado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30552"/>
            <a:ext cx="4855464" cy="11887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C0/M0: registro conservado de 5/5 obligaciones demostradas (07/10/2026).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Escena geométrica mina_modelada.ttt.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44752"/>
            <a:ext cx="5257800" cy="1993392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609344"/>
            <a:ext cx="4855464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800" b="1">
                <a:solidFill>
                  <a:srgbClr val="7B1739"/>
                </a:solidFill>
                <a:latin typeface="Nimbus Sans"/>
              </a:rPr>
              <a:t>Siguiente etapa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130552"/>
            <a:ext cx="4855464" cy="118872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Refinamientos M1/M2, exploración ProB, controlador e integración dinámica.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900" b="0">
                <a:solidFill>
                  <a:srgbClr val="29272C"/>
                </a:solidFill>
                <a:latin typeface="Nimbus Sans"/>
              </a:rPr>
              <a:t>13 escenarios definidos; corridas pendientes.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70332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CC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931920"/>
            <a:ext cx="489204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000" b="1">
                <a:solidFill>
                  <a:srgbClr val="7B1739"/>
                </a:solidFill>
                <a:latin typeface="Nimbus Sans"/>
              </a:rPr>
              <a:t>IMAGEN POR INCORPORAR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" y="4411979"/>
            <a:ext cx="4800600" cy="8229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900" b="1">
                <a:solidFill>
                  <a:srgbClr val="29272C"/>
                </a:solidFill>
                <a:latin typeface="Nimbus Sans"/>
              </a:rPr>
              <a:t>Rodin: C0/M0 y sus obligaciones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5120640"/>
            <a:ext cx="4800600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Captura real del modelo importado y del estado de pruebas.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BCCD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931920"/>
            <a:ext cx="4892040" cy="25603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000" b="1">
                <a:solidFill>
                  <a:srgbClr val="7B1739"/>
                </a:solidFill>
                <a:latin typeface="Nimbus Sans"/>
              </a:rPr>
              <a:t>IMAGEN POR INCORPORAR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411979"/>
            <a:ext cx="4800600" cy="8229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900" b="1">
                <a:solidFill>
                  <a:srgbClr val="29272C"/>
                </a:solidFill>
                <a:latin typeface="Nimbus Sans"/>
              </a:rPr>
              <a:t>CoppeliaSim: escena actual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20640"/>
            <a:ext cx="4800600" cy="5943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400" b="0">
                <a:solidFill>
                  <a:srgbClr val="68616A"/>
                </a:solidFill>
                <a:latin typeface="Nimbus Sans"/>
              </a:rPr>
              <a:t>Identificar faja, puerta y operarios; indicar «escena estática».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10 · BIBLIOGRAFÍA IEEE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Referencias ·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90472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3351"/>
            <a:ext cx="54864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7B1739"/>
                </a:solidFill>
                <a:latin typeface="Nimbus Sans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618488"/>
            <a:ext cx="9674352" cy="7406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ISO, ISO 14118:2017: Safety of machinery — Prevention of unexpected start-up, 2017.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404872"/>
            <a:ext cx="9674352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7B1739"/>
                </a:solidFill>
                <a:latin typeface="Nimbus Sans"/>
                <a:hlinkClick r:id="rId5"/>
              </a:rPr>
              <a:t>https://www.iso.org/standard/66460.html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54864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7B1739"/>
                </a:solidFill>
                <a:latin typeface="Nimbus Sans"/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063240"/>
            <a:ext cx="9674352" cy="7406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J.-R. Abrial et al., “Rodin: An Open Toolset for Modelling and Reasoning in Event-B,” Int. J. Softw. Tools Technol. Transfer, vol. 12, no. 6, pp. 447–466, 2010.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849624"/>
            <a:ext cx="9674352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7B1739"/>
                </a:solidFill>
                <a:latin typeface="Nimbus Sans"/>
                <a:hlinkClick r:id="rId6"/>
              </a:rPr>
              <a:t>https://doi.org/10.1007/s10009-010-0145-y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9976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62856"/>
            <a:ext cx="54864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7B1739"/>
                </a:solidFill>
                <a:latin typeface="Nimbus Sans"/>
              </a:rP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507992"/>
            <a:ext cx="9674352" cy="7406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C. Limbree, Q. Cappart, C. Pecheur y S. Tonetta, “Verification of Railway Interlocking — Compositional Approach with OCRA,” arXiv:1605.06245, 2016.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5294376"/>
            <a:ext cx="9674352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7B1739"/>
                </a:solidFill>
                <a:latin typeface="Nimbus Sans"/>
                <a:hlinkClick r:id="rId7"/>
              </a:rPr>
              <a:t>https://arxiv.org/abs/1605.06245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10 · BIBLIOGRAFÍA IEEE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Referencias ·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90472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73351"/>
            <a:ext cx="54864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7B1739"/>
                </a:solidFill>
                <a:latin typeface="Nimbus Sans"/>
              </a:rPr>
              <a:t>[4]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618488"/>
            <a:ext cx="9674352" cy="7406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Q. Cappart et al., “Verification of Interlocking Systems Using Statistical Model Checking,” en HASE, pp. 61–68, 2017.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404872"/>
            <a:ext cx="9674352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7B1739"/>
                </a:solidFill>
                <a:latin typeface="Nimbus Sans"/>
                <a:hlinkClick r:id="rId5"/>
              </a:rPr>
              <a:t>https://doi.org/10.1109/HASE.2017.10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54864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7B1739"/>
                </a:solidFill>
                <a:latin typeface="Nimbus Sans"/>
              </a:rPr>
              <a:t>[5]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063240"/>
            <a:ext cx="9674352" cy="7406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M. Leuschel y M. Butler, “ProB: A Model Checker for B,” en FME 2003, LNCS, vol. 2805, pp. 855–874, 2003.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6192" y="3849624"/>
            <a:ext cx="9674352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7B1739"/>
                </a:solidFill>
                <a:latin typeface="Nimbus Sans"/>
                <a:hlinkClick r:id="rId6"/>
              </a:rPr>
              <a:t>https://doi.org/10.1007/978-3-540-45236-2_46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79976"/>
            <a:ext cx="10835640" cy="1252728"/>
          </a:xfrm>
          <a:prstGeom prst="roundRect">
            <a:avLst>
              <a:gd name="adj" fmla="val 8000"/>
            </a:avLst>
          </a:prstGeom>
          <a:solidFill>
            <a:srgbClr val="F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562856"/>
            <a:ext cx="548640" cy="36576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000" b="1">
                <a:solidFill>
                  <a:srgbClr val="7B1739"/>
                </a:solidFill>
                <a:latin typeface="Nimbus Sans"/>
              </a:rPr>
              <a:t>[6]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4507992"/>
            <a:ext cx="9674352" cy="74066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700" b="0">
                <a:solidFill>
                  <a:srgbClr val="29272C"/>
                </a:solidFill>
                <a:latin typeface="Nimbus Sans"/>
              </a:rPr>
              <a:t>Coppelia Robotics, “ZeroMQ Remote API,” documentación oficial. Consulta: 16 oct.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5294376"/>
            <a:ext cx="9674352" cy="24688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7B1739"/>
                </a:solidFill>
                <a:latin typeface="Nimbus Sans"/>
                <a:hlinkClick r:id="rId7"/>
              </a:rPr>
              <a:t>https://manual.coppeliarobotics.com/en/zmqRemoteApiOverview.htm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"/>
            <a:ext cx="10789920" cy="20116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1100" b="1">
                <a:solidFill>
                  <a:srgbClr val="7B1739"/>
                </a:solidFill>
                <a:latin typeface="Nimbus Sans"/>
              </a:rPr>
              <a:t>11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881360" cy="530352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3000" b="1">
                <a:solidFill>
                  <a:srgbClr val="29272C"/>
                </a:solidFill>
                <a:latin typeface="Nimbus Sans"/>
              </a:rPr>
              <a:t>Una base formal para continuar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94360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94" y="6290561"/>
            <a:ext cx="1395663" cy="57571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26" y="6361102"/>
            <a:ext cx="1175085" cy="4230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291072"/>
            <a:ext cx="12188952" cy="22860"/>
          </a:xfrm>
          <a:prstGeom prst="rect">
            <a:avLst/>
          </a:prstGeom>
          <a:solidFill>
            <a:srgbClr val="7B1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6446520"/>
            <a:ext cx="7772400" cy="237744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ctr">
              <a:lnSpc>
                <a:spcPct val="109000"/>
              </a:lnSpc>
              <a:spcAft>
                <a:spcPts val="700"/>
              </a:spcAft>
            </a:pPr>
            <a:r>
              <a:rPr sz="1300" b="1">
                <a:solidFill>
                  <a:srgbClr val="29272C"/>
                </a:solidFill>
                <a:latin typeface="Nimbus Sans"/>
              </a:rPr>
              <a:t>Enclavamiento de seguridad para una faja minera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46520"/>
            <a:ext cx="548640" cy="2286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r">
              <a:lnSpc>
                <a:spcPct val="109000"/>
              </a:lnSpc>
              <a:spcAft>
                <a:spcPts val="700"/>
              </a:spcAft>
            </a:pPr>
            <a:r>
              <a:rPr sz="1200" b="0">
                <a:solidFill>
                  <a:srgbClr val="68616A"/>
                </a:solidFill>
                <a:latin typeface="Nimbus Sans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682496"/>
            <a:ext cx="10515600" cy="978408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800" b="1">
                <a:solidFill>
                  <a:srgbClr val="7B1739"/>
                </a:solidFill>
                <a:latin typeface="Nimbus Sans"/>
              </a:rPr>
              <a:t>Requisitos identificados.</a:t>
            </a:r>
          </a:p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800" b="1">
                <a:solidFill>
                  <a:srgbClr val="7B1739"/>
                </a:solidFill>
                <a:latin typeface="Nimbus Sans"/>
              </a:rPr>
              <a:t>Modelo abstracto disponible. Integración por completar.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191256"/>
            <a:ext cx="9829800" cy="100584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400" b="0">
                <a:solidFill>
                  <a:srgbClr val="29272C"/>
                </a:solidFill>
                <a:latin typeface="Nimbus Sans"/>
              </a:rPr>
              <a:t>El siguiente hito es conectar las reglas con la planta simulada y producir evidencia trazable de cada escenario.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4919472"/>
            <a:ext cx="9966960" cy="22860"/>
          </a:xfrm>
          <a:prstGeom prst="rect">
            <a:avLst/>
          </a:prstGeom>
          <a:solidFill>
            <a:srgbClr val="DBC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5230368"/>
            <a:ext cx="9966960" cy="457200"/>
          </a:xfrm>
          <a:prstGeom prst="rect">
            <a:avLst/>
          </a:prstGeom>
          <a:noFill/>
        </p:spPr>
        <p:txBody>
          <a:bodyPr wrap="square" lIns="13716" rIns="13716" tIns="13716" bIns="13716" anchor="t">
            <a:spAutoFit/>
          </a:bodyPr>
          <a:lstStyle/>
          <a:p>
            <a:pPr algn="l">
              <a:lnSpc>
                <a:spcPct val="109000"/>
              </a:lnSpc>
              <a:spcAft>
                <a:spcPts val="700"/>
              </a:spcAft>
            </a:pPr>
            <a:r>
              <a:rPr sz="2400" b="1">
                <a:solidFill>
                  <a:srgbClr val="29272C"/>
                </a:solidFill>
                <a:latin typeface="Nimbus Sans"/>
              </a:rPr>
              <a:t>Gracias · Preguntas y comentarios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2020-04-16T17:58:49Z</dcterms:created>
  <dc:creator>Equipo AFEV · UNSA</dc:creator>
  <dc:title>Segundo entregable: enclavamiento de seguridad para una faja minera</dc:title>
  <dc:subject>Problema, objetivos, trabajos relacionados, requisitos y avance</dc:subject>
</cp:coreProperties>
</file>